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3965697863"/>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3631067119"/>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89916838"/>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9F7BCE3-A650-44D8-B464-FEB089844BCA}"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327897715"/>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9F7BCE3-A650-44D8-B464-FEB089844BCA}"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787154772"/>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9F7BCE3-A650-44D8-B464-FEB089844BCA}"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691606955"/>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7BCE3-A650-44D8-B464-FEB089844BCA}"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2369164273"/>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F7BCE3-A650-44D8-B464-FEB089844BCA}"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70480588"/>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F7BCE3-A650-44D8-B464-FEB089844BCA}"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2861102810"/>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F7BCE3-A650-44D8-B464-FEB089844BCA}"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390749969"/>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120842688"/>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30637347"/>
      </p:ext>
    </p:extLst>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2384044584"/>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F7BCE3-A650-44D8-B464-FEB089844BCA}"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2736898077"/>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F7BCE3-A650-44D8-B464-FEB089844BCA}" type="datetimeFigureOut">
              <a:rPr lang="en-US" smtClean="0"/>
              <a:t>11/25/2025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580786498"/>
      </p:ext>
    </p:extLst>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2482722985"/>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9F7BCE3-A650-44D8-B464-FEB089844BCA}"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BE4F814-6A28-400A-89EB-A5D2D6DF82F7}" type="slidenum">
              <a:rPr lang="en-US" smtClean="0"/>
              <a:t>‹#›</a:t>
            </a:fld>
            <a:endParaRPr lang="en-US"/>
          </a:p>
        </p:txBody>
      </p:sp>
    </p:spTree>
    <p:extLst>
      <p:ext uri="{BB962C8B-B14F-4D97-AF65-F5344CB8AC3E}">
        <p14:creationId xmlns:p14="http://schemas.microsoft.com/office/powerpoint/2010/main" val="1388803447"/>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9F7BCE3-A650-44D8-B464-FEB089844BCA}" type="datetimeFigureOut">
              <a:rPr lang="en-US" smtClean="0"/>
              <a:t>11/25/2025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BE4F814-6A28-400A-89EB-A5D2D6DF82F7}" type="slidenum">
              <a:rPr lang="en-US" smtClean="0"/>
              <a:t>‹#›</a:t>
            </a:fld>
            <a:endParaRPr lang="en-US"/>
          </a:p>
        </p:txBody>
      </p:sp>
    </p:spTree>
    <p:extLst>
      <p:ext uri="{BB962C8B-B14F-4D97-AF65-F5344CB8AC3E}">
        <p14:creationId xmlns:p14="http://schemas.microsoft.com/office/powerpoint/2010/main" val="27990645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ransition spd="slow">
    <p:randomBar dir="vert"/>
  </p:transition>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geeksforgeeks.com/" TargetMode="External"/><Relationship Id="rId2" Type="http://schemas.openxmlformats.org/officeDocument/2006/relationships/hyperlink" Target="http://www.w3school.com-thisisaideathatexistaclassofrenderswhorespon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A Project Report On</a:t>
            </a:r>
            <a:r>
              <a:rPr lang="en-US" dirty="0"/>
              <a:t/>
            </a:r>
            <a:br>
              <a:rPr lang="en-US" dirty="0"/>
            </a:br>
            <a:r>
              <a:rPr lang="en-US" dirty="0"/>
              <a:t>“TOURISM MANAGEMENT SYSTEM”</a:t>
            </a:r>
            <a:br>
              <a:rPr lang="en-US" dirty="0"/>
            </a:br>
            <a:endParaRPr lang="en-US" dirty="0"/>
          </a:p>
        </p:txBody>
      </p:sp>
      <p:sp>
        <p:nvSpPr>
          <p:cNvPr id="3" name="Subtitle 2"/>
          <p:cNvSpPr>
            <a:spLocks noGrp="1"/>
          </p:cNvSpPr>
          <p:nvPr>
            <p:ph type="subTitle" idx="1"/>
          </p:nvPr>
        </p:nvSpPr>
        <p:spPr/>
        <p:txBody>
          <a:bodyPr/>
          <a:lstStyle/>
          <a:p>
            <a:r>
              <a:rPr lang="en-US" dirty="0" smtClean="0"/>
              <a:t>Submitted By</a:t>
            </a:r>
          </a:p>
          <a:p>
            <a:r>
              <a:rPr lang="en-US" dirty="0" smtClean="0"/>
              <a:t>Aditya </a:t>
            </a:r>
            <a:r>
              <a:rPr lang="en-US" dirty="0" err="1" smtClean="0"/>
              <a:t>Kangare</a:t>
            </a:r>
            <a:endParaRPr lang="en-US" dirty="0"/>
          </a:p>
        </p:txBody>
      </p:sp>
    </p:spTree>
    <p:extLst>
      <p:ext uri="{BB962C8B-B14F-4D97-AF65-F5344CB8AC3E}">
        <p14:creationId xmlns:p14="http://schemas.microsoft.com/office/powerpoint/2010/main" val="3047405202"/>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CERTIFICATE</a:t>
            </a:r>
            <a:br>
              <a:rPr lang="en-US" dirty="0"/>
            </a:br>
            <a:endParaRPr lang="en-US" dirty="0"/>
          </a:p>
        </p:txBody>
      </p:sp>
      <p:sp>
        <p:nvSpPr>
          <p:cNvPr id="3" name="Content Placeholder 2"/>
          <p:cNvSpPr>
            <a:spLocks noGrp="1"/>
          </p:cNvSpPr>
          <p:nvPr>
            <p:ph idx="1"/>
          </p:nvPr>
        </p:nvSpPr>
        <p:spPr/>
        <p:txBody>
          <a:bodyPr/>
          <a:lstStyle/>
          <a:p>
            <a:r>
              <a:rPr lang="en-US" b="1" dirty="0"/>
              <a:t>This is to certify That </a:t>
            </a:r>
            <a:r>
              <a:rPr lang="en-US" b="1" dirty="0" err="1"/>
              <a:t>Mast.Aditya</a:t>
            </a:r>
            <a:r>
              <a:rPr lang="en-US" b="1" dirty="0"/>
              <a:t> </a:t>
            </a:r>
            <a:r>
              <a:rPr lang="en-US" b="1" dirty="0" err="1"/>
              <a:t>Kangare</a:t>
            </a:r>
            <a:r>
              <a:rPr lang="en-US" b="1" dirty="0"/>
              <a:t> of </a:t>
            </a:r>
            <a:r>
              <a:rPr lang="en-US" b="1" dirty="0" err="1"/>
              <a:t>T.Y.B.Sc</a:t>
            </a:r>
            <a:r>
              <a:rPr lang="en-US" b="1" dirty="0"/>
              <a:t>.(Comp Sci.) has Satisfactorily carried out required project work according to the syllabus of Rao </a:t>
            </a:r>
            <a:r>
              <a:rPr lang="en-US" b="1" dirty="0" err="1"/>
              <a:t>Bahadur</a:t>
            </a:r>
            <a:r>
              <a:rPr lang="en-US" b="1" dirty="0"/>
              <a:t> </a:t>
            </a:r>
            <a:r>
              <a:rPr lang="en-US" b="1" dirty="0" err="1"/>
              <a:t>Narayanrao</a:t>
            </a:r>
            <a:r>
              <a:rPr lang="en-US" b="1" dirty="0"/>
              <a:t> </a:t>
            </a:r>
            <a:r>
              <a:rPr lang="en-US" b="1" dirty="0" err="1"/>
              <a:t>Borawake</a:t>
            </a:r>
            <a:r>
              <a:rPr lang="en-US" b="1" dirty="0"/>
              <a:t> College during the academic year 2025-26.</a:t>
            </a:r>
          </a:p>
          <a:p>
            <a:endParaRPr lang="en-US" dirty="0"/>
          </a:p>
        </p:txBody>
      </p:sp>
    </p:spTree>
    <p:extLst>
      <p:ext uri="{BB962C8B-B14F-4D97-AF65-F5344CB8AC3E}">
        <p14:creationId xmlns:p14="http://schemas.microsoft.com/office/powerpoint/2010/main" val="1151080703"/>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a:t>
            </a:r>
            <a:br>
              <a:rPr lang="en-US" dirty="0"/>
            </a:br>
            <a:endParaRPr lang="en-US" dirty="0"/>
          </a:p>
        </p:txBody>
      </p:sp>
      <p:graphicFrame>
        <p:nvGraphicFramePr>
          <p:cNvPr id="4" name="Content Placeholder 3"/>
          <p:cNvGraphicFramePr>
            <a:graphicFrameLocks noGrp="1"/>
          </p:cNvGraphicFramePr>
          <p:nvPr>
            <p:ph idx="1"/>
          </p:nvPr>
        </p:nvGraphicFramePr>
        <p:xfrm>
          <a:off x="4798385" y="1825626"/>
          <a:ext cx="2595230" cy="4351336"/>
        </p:xfrm>
        <a:graphic>
          <a:graphicData uri="http://schemas.openxmlformats.org/drawingml/2006/table">
            <a:tbl>
              <a:tblPr firstRow="1" firstCol="1" lastRow="1" lastCol="1" bandRow="1" bandCol="1">
                <a:tableStyleId>{5C22544A-7EE6-4342-B048-85BDC9FD1C3A}</a:tableStyleId>
              </a:tblPr>
              <a:tblGrid>
                <a:gridCol w="608427"/>
                <a:gridCol w="1986803"/>
              </a:tblGrid>
              <a:tr h="308921">
                <a:tc>
                  <a:txBody>
                    <a:bodyPr/>
                    <a:lstStyle/>
                    <a:p>
                      <a:pPr marL="73025" marR="0">
                        <a:lnSpc>
                          <a:spcPts val="1280"/>
                        </a:lnSpc>
                        <a:spcBef>
                          <a:spcPts val="165"/>
                        </a:spcBef>
                        <a:spcAft>
                          <a:spcPts val="0"/>
                        </a:spcAft>
                      </a:pPr>
                      <a:r>
                        <a:rPr lang="en-US" sz="800">
                          <a:effectLst/>
                        </a:rPr>
                        <a:t>SR</a:t>
                      </a:r>
                      <a:r>
                        <a:rPr lang="en-US" sz="800" spc="-35">
                          <a:effectLst/>
                        </a:rPr>
                        <a:t> </a:t>
                      </a:r>
                      <a:r>
                        <a:rPr lang="en-US" sz="800" spc="-25">
                          <a:effectLst/>
                        </a:rPr>
                        <a:t>NO</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10795" marR="0" algn="ctr">
                        <a:lnSpc>
                          <a:spcPts val="1280"/>
                        </a:lnSpc>
                        <a:spcBef>
                          <a:spcPts val="70"/>
                        </a:spcBef>
                        <a:spcAft>
                          <a:spcPts val="0"/>
                        </a:spcAft>
                      </a:pPr>
                      <a:r>
                        <a:rPr lang="en-US" sz="800" spc="-10">
                          <a:effectLst/>
                        </a:rPr>
                        <a:t>CONTENT</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90089">
                <a:tc>
                  <a:txBody>
                    <a:bodyPr/>
                    <a:lstStyle/>
                    <a:p>
                      <a:pPr marL="73025" marR="0">
                        <a:lnSpc>
                          <a:spcPts val="1280"/>
                        </a:lnSpc>
                        <a:spcBef>
                          <a:spcPts val="70"/>
                        </a:spcBef>
                        <a:spcAft>
                          <a:spcPts val="0"/>
                        </a:spcAft>
                      </a:pPr>
                      <a:r>
                        <a:rPr lang="en-US" sz="800" spc="-50">
                          <a:effectLst/>
                        </a:rPr>
                        <a:t>1</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a:effectLst/>
                        </a:rPr>
                        <a:t>Acknowledgement</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7554">
                <a:tc>
                  <a:txBody>
                    <a:bodyPr/>
                    <a:lstStyle/>
                    <a:p>
                      <a:pPr marL="73025" marR="0">
                        <a:lnSpc>
                          <a:spcPts val="1280"/>
                        </a:lnSpc>
                        <a:spcBef>
                          <a:spcPts val="70"/>
                        </a:spcBef>
                        <a:spcAft>
                          <a:spcPts val="0"/>
                        </a:spcAft>
                      </a:pPr>
                      <a:r>
                        <a:rPr lang="en-US" sz="800" spc="-50">
                          <a:effectLst/>
                        </a:rPr>
                        <a:t>2</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a:effectLst/>
                        </a:rPr>
                        <a:t>Introduction</a:t>
                      </a:r>
                      <a:r>
                        <a:rPr lang="en-US" sz="800" spc="-90">
                          <a:effectLst/>
                        </a:rPr>
                        <a:t> </a:t>
                      </a:r>
                      <a:r>
                        <a:rPr lang="en-US" sz="800" spc="-10">
                          <a:effectLst/>
                        </a:rPr>
                        <a:t>To</a:t>
                      </a:r>
                      <a:r>
                        <a:rPr lang="en-US" sz="800" spc="-40">
                          <a:effectLst/>
                        </a:rPr>
                        <a:t> </a:t>
                      </a:r>
                      <a:r>
                        <a:rPr lang="en-US" sz="800" spc="-10">
                          <a:effectLst/>
                        </a:rPr>
                        <a:t>System</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7192">
                <a:tc>
                  <a:txBody>
                    <a:bodyPr/>
                    <a:lstStyle/>
                    <a:p>
                      <a:pPr marL="73025" marR="0">
                        <a:lnSpc>
                          <a:spcPts val="1280"/>
                        </a:lnSpc>
                        <a:spcBef>
                          <a:spcPts val="70"/>
                        </a:spcBef>
                        <a:spcAft>
                          <a:spcPts val="0"/>
                        </a:spcAft>
                      </a:pPr>
                      <a:r>
                        <a:rPr lang="en-US" sz="800" spc="-50">
                          <a:effectLst/>
                        </a:rPr>
                        <a:t>3</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a:effectLst/>
                        </a:rPr>
                        <a:t>Scope</a:t>
                      </a:r>
                      <a:r>
                        <a:rPr lang="en-US" sz="800" spc="-15">
                          <a:effectLst/>
                        </a:rPr>
                        <a:t> </a:t>
                      </a:r>
                      <a:r>
                        <a:rPr lang="en-US" sz="800">
                          <a:effectLst/>
                        </a:rPr>
                        <a:t>of the</a:t>
                      </a:r>
                      <a:r>
                        <a:rPr lang="en-US" sz="800" spc="-5">
                          <a:effectLst/>
                        </a:rPr>
                        <a:t> </a:t>
                      </a:r>
                      <a:r>
                        <a:rPr lang="en-US" sz="800" spc="-10">
                          <a:effectLst/>
                        </a:rPr>
                        <a:t>System</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90089">
                <a:tc>
                  <a:txBody>
                    <a:bodyPr/>
                    <a:lstStyle/>
                    <a:p>
                      <a:pPr marL="73025" marR="0">
                        <a:lnSpc>
                          <a:spcPts val="1280"/>
                        </a:lnSpc>
                        <a:spcBef>
                          <a:spcPts val="80"/>
                        </a:spcBef>
                        <a:spcAft>
                          <a:spcPts val="0"/>
                        </a:spcAft>
                      </a:pPr>
                      <a:r>
                        <a:rPr lang="en-US" sz="800" spc="-50">
                          <a:effectLst/>
                        </a:rPr>
                        <a:t>4</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80"/>
                        </a:spcBef>
                        <a:spcAft>
                          <a:spcPts val="0"/>
                        </a:spcAft>
                      </a:pPr>
                      <a:r>
                        <a:rPr lang="en-US" sz="800">
                          <a:effectLst/>
                        </a:rPr>
                        <a:t>Existing</a:t>
                      </a:r>
                      <a:r>
                        <a:rPr lang="en-US" sz="800" spc="-35">
                          <a:effectLst/>
                        </a:rPr>
                        <a:t> </a:t>
                      </a:r>
                      <a:r>
                        <a:rPr lang="en-US" sz="800" spc="-10">
                          <a:effectLst/>
                        </a:rPr>
                        <a:t>System</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7192">
                <a:tc>
                  <a:txBody>
                    <a:bodyPr/>
                    <a:lstStyle/>
                    <a:p>
                      <a:pPr marL="73025" marR="0">
                        <a:lnSpc>
                          <a:spcPts val="1280"/>
                        </a:lnSpc>
                        <a:spcBef>
                          <a:spcPts val="70"/>
                        </a:spcBef>
                        <a:spcAft>
                          <a:spcPts val="0"/>
                        </a:spcAft>
                      </a:pPr>
                      <a:r>
                        <a:rPr lang="en-US" sz="800" spc="-50">
                          <a:effectLst/>
                        </a:rPr>
                        <a:t>5</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a:effectLst/>
                        </a:rPr>
                        <a:t>Fact</a:t>
                      </a:r>
                      <a:r>
                        <a:rPr lang="en-US" sz="800" spc="-40">
                          <a:effectLst/>
                        </a:rPr>
                        <a:t> </a:t>
                      </a:r>
                      <a:r>
                        <a:rPr lang="en-US" sz="800" spc="-10">
                          <a:effectLst/>
                        </a:rPr>
                        <a:t>Finding</a:t>
                      </a:r>
                      <a:r>
                        <a:rPr lang="en-US" sz="800" spc="-35">
                          <a:effectLst/>
                        </a:rPr>
                        <a:t> </a:t>
                      </a:r>
                      <a:r>
                        <a:rPr lang="en-US" sz="800" spc="-10">
                          <a:effectLst/>
                        </a:rPr>
                        <a:t>Technique</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8278">
                <a:tc>
                  <a:txBody>
                    <a:bodyPr/>
                    <a:lstStyle/>
                    <a:p>
                      <a:pPr marL="73025" marR="0">
                        <a:lnSpc>
                          <a:spcPts val="1280"/>
                        </a:lnSpc>
                        <a:spcBef>
                          <a:spcPts val="50"/>
                        </a:spcBef>
                        <a:spcAft>
                          <a:spcPts val="0"/>
                        </a:spcAft>
                      </a:pPr>
                      <a:r>
                        <a:rPr lang="en-US" sz="800" spc="-50">
                          <a:effectLst/>
                        </a:rPr>
                        <a:t>6</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a:effectLst/>
                        </a:rPr>
                        <a:t>Identification</a:t>
                      </a:r>
                      <a:r>
                        <a:rPr lang="en-US" sz="800" spc="-50">
                          <a:effectLst/>
                        </a:rPr>
                        <a:t> </a:t>
                      </a:r>
                      <a:r>
                        <a:rPr lang="en-US" sz="800" spc="-10">
                          <a:effectLst/>
                        </a:rPr>
                        <a:t>of</a:t>
                      </a:r>
                      <a:r>
                        <a:rPr lang="en-US" sz="800" spc="-45">
                          <a:effectLst/>
                        </a:rPr>
                        <a:t> </a:t>
                      </a:r>
                      <a:r>
                        <a:rPr lang="en-US" sz="800" spc="-20">
                          <a:effectLst/>
                        </a:rPr>
                        <a:t>Data</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7554">
                <a:tc>
                  <a:txBody>
                    <a:bodyPr/>
                    <a:lstStyle/>
                    <a:p>
                      <a:pPr marL="73025" marR="0">
                        <a:lnSpc>
                          <a:spcPts val="1280"/>
                        </a:lnSpc>
                        <a:spcBef>
                          <a:spcPts val="80"/>
                        </a:spcBef>
                        <a:spcAft>
                          <a:spcPts val="0"/>
                        </a:spcAft>
                      </a:pPr>
                      <a:r>
                        <a:rPr lang="en-US" sz="800" spc="-50">
                          <a:effectLst/>
                        </a:rPr>
                        <a:t>7</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80"/>
                        </a:spcBef>
                        <a:spcAft>
                          <a:spcPts val="0"/>
                        </a:spcAft>
                      </a:pPr>
                      <a:r>
                        <a:rPr lang="en-US" sz="800">
                          <a:effectLst/>
                        </a:rPr>
                        <a:t>Requirements</a:t>
                      </a:r>
                      <a:r>
                        <a:rPr lang="en-US" sz="800" spc="-25">
                          <a:effectLst/>
                        </a:rPr>
                        <a:t> </a:t>
                      </a:r>
                      <a:r>
                        <a:rPr lang="en-US" sz="800" spc="-10">
                          <a:effectLst/>
                        </a:rPr>
                        <a:t>Specifications</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8278">
                <a:tc>
                  <a:txBody>
                    <a:bodyPr/>
                    <a:lstStyle/>
                    <a:p>
                      <a:pPr marL="73025" marR="0">
                        <a:lnSpc>
                          <a:spcPts val="1280"/>
                        </a:lnSpc>
                        <a:spcBef>
                          <a:spcPts val="70"/>
                        </a:spcBef>
                        <a:spcAft>
                          <a:spcPts val="0"/>
                        </a:spcAft>
                      </a:pPr>
                      <a:r>
                        <a:rPr lang="en-US" sz="800" spc="-50">
                          <a:effectLst/>
                        </a:rPr>
                        <a:t>8</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a:effectLst/>
                        </a:rPr>
                        <a:t>Feasiblity</a:t>
                      </a:r>
                      <a:r>
                        <a:rPr lang="en-US" sz="800" spc="-35">
                          <a:effectLst/>
                        </a:rPr>
                        <a:t> </a:t>
                      </a:r>
                      <a:r>
                        <a:rPr lang="en-US" sz="800" spc="-10">
                          <a:effectLst/>
                        </a:rPr>
                        <a:t>Study</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7554">
                <a:tc>
                  <a:txBody>
                    <a:bodyPr/>
                    <a:lstStyle/>
                    <a:p>
                      <a:pPr marL="73025" marR="0">
                        <a:lnSpc>
                          <a:spcPts val="1280"/>
                        </a:lnSpc>
                        <a:spcBef>
                          <a:spcPts val="80"/>
                        </a:spcBef>
                        <a:spcAft>
                          <a:spcPts val="0"/>
                        </a:spcAft>
                      </a:pPr>
                      <a:r>
                        <a:rPr lang="en-US" sz="800" spc="-50">
                          <a:effectLst/>
                        </a:rPr>
                        <a:t>9</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80"/>
                        </a:spcBef>
                        <a:spcAft>
                          <a:spcPts val="0"/>
                        </a:spcAft>
                      </a:pPr>
                      <a:r>
                        <a:rPr lang="en-US" sz="800" spc="-10">
                          <a:effectLst/>
                        </a:rPr>
                        <a:t>Normalization</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9365">
                <a:tc>
                  <a:txBody>
                    <a:bodyPr/>
                    <a:lstStyle/>
                    <a:p>
                      <a:pPr marL="73025" marR="0">
                        <a:lnSpc>
                          <a:spcPts val="1280"/>
                        </a:lnSpc>
                        <a:spcBef>
                          <a:spcPts val="75"/>
                        </a:spcBef>
                        <a:spcAft>
                          <a:spcPts val="0"/>
                        </a:spcAft>
                      </a:pPr>
                      <a:r>
                        <a:rPr lang="en-US" sz="800" spc="-25">
                          <a:effectLst/>
                        </a:rPr>
                        <a:t>10</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5"/>
                        </a:spcBef>
                        <a:spcAft>
                          <a:spcPts val="0"/>
                        </a:spcAft>
                      </a:pPr>
                      <a:r>
                        <a:rPr lang="en-US" sz="800">
                          <a:effectLst/>
                        </a:rPr>
                        <a:t>UML</a:t>
                      </a:r>
                      <a:r>
                        <a:rPr lang="en-US" sz="800" spc="-70">
                          <a:effectLst/>
                        </a:rPr>
                        <a:t> </a:t>
                      </a:r>
                      <a:r>
                        <a:rPr lang="en-US" sz="800" spc="-10">
                          <a:effectLst/>
                        </a:rPr>
                        <a:t>Diagrams</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90089">
                <a:tc>
                  <a:txBody>
                    <a:bodyPr/>
                    <a:lstStyle/>
                    <a:p>
                      <a:pPr marL="73025" marR="0">
                        <a:lnSpc>
                          <a:spcPts val="1280"/>
                        </a:lnSpc>
                        <a:spcBef>
                          <a:spcPts val="80"/>
                        </a:spcBef>
                        <a:spcAft>
                          <a:spcPts val="0"/>
                        </a:spcAft>
                      </a:pPr>
                      <a:r>
                        <a:rPr lang="en-US" sz="800" spc="-25">
                          <a:effectLst/>
                        </a:rPr>
                        <a:t>11</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80"/>
                        </a:spcBef>
                        <a:spcAft>
                          <a:spcPts val="0"/>
                        </a:spcAft>
                      </a:pPr>
                      <a:r>
                        <a:rPr lang="en-US" sz="800">
                          <a:effectLst/>
                        </a:rPr>
                        <a:t>Data</a:t>
                      </a:r>
                      <a:r>
                        <a:rPr lang="en-US" sz="800" spc="-70">
                          <a:effectLst/>
                        </a:rPr>
                        <a:t> </a:t>
                      </a:r>
                      <a:r>
                        <a:rPr lang="en-US" sz="800" spc="-10">
                          <a:effectLst/>
                        </a:rPr>
                        <a:t>Dictionary</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89003">
                <a:tc>
                  <a:txBody>
                    <a:bodyPr/>
                    <a:lstStyle/>
                    <a:p>
                      <a:pPr marL="73025" marR="0">
                        <a:lnSpc>
                          <a:spcPts val="1280"/>
                        </a:lnSpc>
                        <a:spcBef>
                          <a:spcPts val="70"/>
                        </a:spcBef>
                        <a:spcAft>
                          <a:spcPts val="0"/>
                        </a:spcAft>
                      </a:pPr>
                      <a:r>
                        <a:rPr lang="en-US" sz="800" spc="-25">
                          <a:effectLst/>
                        </a:rPr>
                        <a:t>12</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a:effectLst/>
                        </a:rPr>
                        <a:t>Reports</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90089">
                <a:tc>
                  <a:txBody>
                    <a:bodyPr/>
                    <a:lstStyle/>
                    <a:p>
                      <a:pPr marL="73025" marR="0">
                        <a:lnSpc>
                          <a:spcPts val="1280"/>
                        </a:lnSpc>
                        <a:spcBef>
                          <a:spcPts val="80"/>
                        </a:spcBef>
                        <a:spcAft>
                          <a:spcPts val="0"/>
                        </a:spcAft>
                      </a:pPr>
                      <a:r>
                        <a:rPr lang="en-US" sz="800" spc="-25">
                          <a:effectLst/>
                        </a:rPr>
                        <a:t>13</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80"/>
                        </a:spcBef>
                        <a:spcAft>
                          <a:spcPts val="0"/>
                        </a:spcAft>
                      </a:pPr>
                      <a:r>
                        <a:rPr lang="en-US" sz="800" spc="-10">
                          <a:effectLst/>
                        </a:rPr>
                        <a:t>Conclusion</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290089">
                <a:tc>
                  <a:txBody>
                    <a:bodyPr/>
                    <a:lstStyle/>
                    <a:p>
                      <a:pPr marL="73025" marR="0">
                        <a:lnSpc>
                          <a:spcPts val="1280"/>
                        </a:lnSpc>
                        <a:spcBef>
                          <a:spcPts val="70"/>
                        </a:spcBef>
                        <a:spcAft>
                          <a:spcPts val="0"/>
                        </a:spcAft>
                      </a:pPr>
                      <a:r>
                        <a:rPr lang="en-US" sz="800" spc="-25">
                          <a:effectLst/>
                        </a:rPr>
                        <a:t>14</a:t>
                      </a:r>
                      <a:endParaRPr lang="en-US" sz="6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74295" marR="0">
                        <a:lnSpc>
                          <a:spcPts val="1280"/>
                        </a:lnSpc>
                        <a:spcBef>
                          <a:spcPts val="70"/>
                        </a:spcBef>
                        <a:spcAft>
                          <a:spcPts val="0"/>
                        </a:spcAft>
                      </a:pPr>
                      <a:r>
                        <a:rPr lang="en-US" sz="800" spc="-10" dirty="0" err="1">
                          <a:effectLst/>
                        </a:rPr>
                        <a:t>Bibilography</a:t>
                      </a:r>
                      <a:endParaRPr lang="en-US" sz="6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bl>
          </a:graphicData>
        </a:graphic>
      </p:graphicFrame>
    </p:spTree>
    <p:extLst>
      <p:ext uri="{BB962C8B-B14F-4D97-AF65-F5344CB8AC3E}">
        <p14:creationId xmlns:p14="http://schemas.microsoft.com/office/powerpoint/2010/main" val="1003230297"/>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ACKNOWLEDGEMENT</a:t>
            </a:r>
            <a:r>
              <a:rPr lang="en-US" b="1" u="sng" dirty="0"/>
              <a:t/>
            </a:r>
            <a:br>
              <a:rPr lang="en-US" b="1" u="sng" dirty="0"/>
            </a:br>
            <a:endParaRPr lang="en-US" dirty="0"/>
          </a:p>
        </p:txBody>
      </p:sp>
      <p:sp>
        <p:nvSpPr>
          <p:cNvPr id="3" name="Content Placeholder 2"/>
          <p:cNvSpPr>
            <a:spLocks noGrp="1"/>
          </p:cNvSpPr>
          <p:nvPr>
            <p:ph idx="1"/>
          </p:nvPr>
        </p:nvSpPr>
        <p:spPr/>
        <p:txBody>
          <a:bodyPr>
            <a:normAutofit fontScale="32500" lnSpcReduction="20000"/>
          </a:bodyPr>
          <a:lstStyle/>
          <a:p>
            <a:r>
              <a:rPr lang="en-US" dirty="0"/>
              <a:t>The project title </a:t>
            </a:r>
            <a:r>
              <a:rPr lang="en-US" b="1" dirty="0"/>
              <a:t>Tourism Management System </a:t>
            </a:r>
            <a:r>
              <a:rPr lang="en-US" dirty="0"/>
              <a:t>would not have been completed without the valuable guidance and encouragement of Prof. </a:t>
            </a:r>
            <a:r>
              <a:rPr lang="en-US" dirty="0" err="1"/>
              <a:t>Dr</a:t>
            </a:r>
            <a:r>
              <a:rPr lang="en-US" dirty="0"/>
              <a:t> </a:t>
            </a:r>
            <a:r>
              <a:rPr lang="en-US" dirty="0" err="1"/>
              <a:t>Shinde</a:t>
            </a:r>
            <a:r>
              <a:rPr lang="en-US" dirty="0"/>
              <a:t> sir.</a:t>
            </a:r>
          </a:p>
          <a:p>
            <a:r>
              <a:rPr lang="en-US" dirty="0"/>
              <a:t> </a:t>
            </a:r>
          </a:p>
          <a:p>
            <a:r>
              <a:rPr lang="en-US" dirty="0"/>
              <a:t>We are also extremely thanks to </a:t>
            </a:r>
            <a:r>
              <a:rPr lang="en-US" dirty="0" err="1"/>
              <a:t>Dr.B.S.Shinde</a:t>
            </a:r>
            <a:r>
              <a:rPr lang="en-US" dirty="0"/>
              <a:t> sir Department of computer science &amp; all staff members for their guidance and moral support.</a:t>
            </a:r>
          </a:p>
          <a:p>
            <a:r>
              <a:rPr lang="en-US" dirty="0"/>
              <a:t> </a:t>
            </a:r>
          </a:p>
          <a:p>
            <a:r>
              <a:rPr lang="en-US" dirty="0"/>
              <a:t>We are also thankful to all those who were extremely helpful directly or indirectly in completing this project work.</a:t>
            </a:r>
          </a:p>
          <a:p>
            <a:r>
              <a:rPr lang="en-US" dirty="0"/>
              <a:t> </a:t>
            </a:r>
          </a:p>
          <a:p>
            <a:r>
              <a:rPr lang="en-US" dirty="0"/>
              <a:t>And last but not least, we would like to thank all our friends for their support and timely help</a:t>
            </a:r>
          </a:p>
          <a:p>
            <a:r>
              <a:rPr lang="en-US" dirty="0"/>
              <a:t> </a:t>
            </a:r>
          </a:p>
          <a:p>
            <a:r>
              <a:rPr lang="en-US" dirty="0"/>
              <a:t> </a:t>
            </a:r>
          </a:p>
          <a:p>
            <a:r>
              <a:rPr lang="en-US" dirty="0"/>
              <a:t>Thank you …</a:t>
            </a:r>
          </a:p>
          <a:p>
            <a:r>
              <a:rPr lang="en-US" dirty="0"/>
              <a:t> </a:t>
            </a:r>
          </a:p>
          <a:p>
            <a:r>
              <a:rPr lang="en-US" dirty="0"/>
              <a:t> </a:t>
            </a:r>
          </a:p>
          <a:p>
            <a:r>
              <a:rPr lang="en-US" dirty="0"/>
              <a:t>You’re sincerely , </a:t>
            </a:r>
          </a:p>
          <a:p>
            <a:r>
              <a:rPr lang="en-US" dirty="0"/>
              <a:t> </a:t>
            </a:r>
          </a:p>
          <a:p>
            <a:r>
              <a:rPr lang="en-US" dirty="0" err="1"/>
              <a:t>Mast.Aditya</a:t>
            </a:r>
            <a:r>
              <a:rPr lang="en-US" dirty="0"/>
              <a:t> </a:t>
            </a:r>
            <a:r>
              <a:rPr lang="en-US" dirty="0" err="1"/>
              <a:t>Kangare</a:t>
            </a:r>
            <a:endParaRPr lang="en-US" dirty="0"/>
          </a:p>
          <a:p>
            <a:r>
              <a:rPr lang="en-US" dirty="0"/>
              <a:t/>
            </a:r>
            <a:br>
              <a:rPr lang="en-US" dirty="0"/>
            </a:br>
            <a:endParaRPr lang="en-US" dirty="0"/>
          </a:p>
        </p:txBody>
      </p:sp>
    </p:spTree>
    <p:extLst>
      <p:ext uri="{BB962C8B-B14F-4D97-AF65-F5344CB8AC3E}">
        <p14:creationId xmlns:p14="http://schemas.microsoft.com/office/powerpoint/2010/main" val="404274424"/>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INTRODUCTION TO SYSTEM</a:t>
            </a:r>
            <a:endParaRPr lang="en-US" dirty="0"/>
          </a:p>
        </p:txBody>
      </p:sp>
      <p:sp>
        <p:nvSpPr>
          <p:cNvPr id="3" name="Content Placeholder 2"/>
          <p:cNvSpPr>
            <a:spLocks noGrp="1"/>
          </p:cNvSpPr>
          <p:nvPr>
            <p:ph idx="1"/>
          </p:nvPr>
        </p:nvSpPr>
        <p:spPr/>
        <p:txBody>
          <a:bodyPr>
            <a:normAutofit lnSpcReduction="10000"/>
          </a:bodyPr>
          <a:lstStyle/>
          <a:p>
            <a:r>
              <a:rPr lang="en-US" dirty="0"/>
              <a:t>In the dynamic landscape of the travel and tourism industry, the need for efficient, seamless, and	customer-centric solutions has never been greater. The Tourism Management System (TMS) represents a significant step towards addressing these needs by offering a comprehensive and integrated platform for managing various aspects of travel planning, booking, and coordination.</a:t>
            </a:r>
          </a:p>
          <a:p>
            <a:r>
              <a:rPr lang="en-US" dirty="0"/>
              <a:t> </a:t>
            </a:r>
          </a:p>
          <a:p>
            <a:r>
              <a:rPr lang="en-US" dirty="0"/>
              <a:t>The TMS is envisioned as a transformative tool that empowers travel agencies, tour operators, and tourists alike with advanced features and functionalities. By leveraging cutting-edge technology and innovative design, the system aims to revolutionize the way travel-related services are accessed, organized, and delivered.</a:t>
            </a:r>
          </a:p>
          <a:p>
            <a:endParaRPr lang="en-US" dirty="0"/>
          </a:p>
        </p:txBody>
      </p:sp>
    </p:spTree>
    <p:extLst>
      <p:ext uri="{BB962C8B-B14F-4D97-AF65-F5344CB8AC3E}">
        <p14:creationId xmlns:p14="http://schemas.microsoft.com/office/powerpoint/2010/main" val="136539769"/>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SCOPE OF THE SYSTEM</a:t>
            </a:r>
            <a:br>
              <a:rPr lang="en-US" b="1" u="sng" dirty="0"/>
            </a:br>
            <a:endParaRPr lang="en-US" dirty="0"/>
          </a:p>
        </p:txBody>
      </p:sp>
      <p:sp>
        <p:nvSpPr>
          <p:cNvPr id="3" name="Content Placeholder 2"/>
          <p:cNvSpPr>
            <a:spLocks noGrp="1"/>
          </p:cNvSpPr>
          <p:nvPr>
            <p:ph idx="1"/>
          </p:nvPr>
        </p:nvSpPr>
        <p:spPr/>
        <p:txBody>
          <a:bodyPr/>
          <a:lstStyle/>
          <a:p>
            <a:r>
              <a:rPr lang="en-US" dirty="0"/>
              <a:t>The scope of the Tourism Management System (TMS) encompasses a wide range of functionalities and features aimed at facilitating and enhancing various aspects of travel planning, booking, and coordination. The system is designed to cater to the needs of tourists, travel agencies, tour operators, accommodations, transportation providers, and other stakeholders within the travel and tourism industry. Key components of the system's scope include.</a:t>
            </a:r>
          </a:p>
          <a:p>
            <a:r>
              <a:rPr lang="en-US" dirty="0"/>
              <a:t> </a:t>
            </a:r>
          </a:p>
          <a:p>
            <a:endParaRPr lang="en-US" dirty="0"/>
          </a:p>
        </p:txBody>
      </p:sp>
    </p:spTree>
    <p:extLst>
      <p:ext uri="{BB962C8B-B14F-4D97-AF65-F5344CB8AC3E}">
        <p14:creationId xmlns:p14="http://schemas.microsoft.com/office/powerpoint/2010/main" val="1193693966"/>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EXISITNG SYSTEM</a:t>
            </a:r>
            <a:br>
              <a:rPr lang="en-US" b="1" u="sng" dirty="0"/>
            </a:br>
            <a:endParaRPr lang="en-US" dirty="0"/>
          </a:p>
        </p:txBody>
      </p:sp>
      <p:sp>
        <p:nvSpPr>
          <p:cNvPr id="3" name="Content Placeholder 2"/>
          <p:cNvSpPr>
            <a:spLocks noGrp="1"/>
          </p:cNvSpPr>
          <p:nvPr>
            <p:ph idx="1"/>
          </p:nvPr>
        </p:nvSpPr>
        <p:spPr/>
        <p:txBody>
          <a:bodyPr/>
          <a:lstStyle/>
          <a:p>
            <a:r>
              <a:rPr lang="en-US" dirty="0"/>
              <a:t>The current state of the tour and travel management industry relies heavily on manual processes, disjointed systems, and fragmented communication channels. While some tourism agencies and tour operators may use basic software solutions for specific tasks such as booking accommodations or arranging transportation, the overall landscape lacks a comprehensive and integrated system that addresses the diverse needs of tourists, service providers, and other stakeholders.</a:t>
            </a:r>
          </a:p>
          <a:p>
            <a:endParaRPr lang="en-US" dirty="0"/>
          </a:p>
        </p:txBody>
      </p:sp>
    </p:spTree>
    <p:extLst>
      <p:ext uri="{BB962C8B-B14F-4D97-AF65-F5344CB8AC3E}">
        <p14:creationId xmlns:p14="http://schemas.microsoft.com/office/powerpoint/2010/main" val="3982017234"/>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FACT FINDING TECHNIQUE</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To gather requirements and insights for the development of the Tourism Management System, a variety of fact-finding techniques were employed:</a:t>
            </a:r>
          </a:p>
          <a:p>
            <a:pPr lvl="0"/>
            <a:r>
              <a:rPr lang="en-US" dirty="0"/>
              <a:t>Interviews with key stakeholders including tourists, travel agents, hotel managers, and tourism officials obtained from </a:t>
            </a:r>
            <a:r>
              <a:rPr lang="en-US" dirty="0" err="1"/>
              <a:t>Youtube</a:t>
            </a:r>
            <a:endParaRPr lang="en-US" dirty="0"/>
          </a:p>
          <a:p>
            <a:pPr lvl="0"/>
            <a:r>
              <a:rPr lang="en-US" dirty="0"/>
              <a:t>Surveys and questionnaires distributed to potential users to gather feedback and preferences taken from Google</a:t>
            </a:r>
          </a:p>
          <a:p>
            <a:pPr lvl="0"/>
            <a:r>
              <a:rPr lang="en-US" dirty="0"/>
              <a:t>Observations of existing processes and interactions within the tourism industry</a:t>
            </a:r>
          </a:p>
          <a:p>
            <a:pPr lvl="0"/>
            <a:r>
              <a:rPr lang="en-US" dirty="0"/>
              <a:t>Analysis of documents such as industry reports, market trends, and competitor offerings</a:t>
            </a:r>
          </a:p>
          <a:p>
            <a:endParaRPr lang="en-US" dirty="0"/>
          </a:p>
        </p:txBody>
      </p:sp>
    </p:spTree>
    <p:extLst>
      <p:ext uri="{BB962C8B-B14F-4D97-AF65-F5344CB8AC3E}">
        <p14:creationId xmlns:p14="http://schemas.microsoft.com/office/powerpoint/2010/main" val="3864836198"/>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INDENTIFICATION OF DATA</a:t>
            </a:r>
            <a:br>
              <a:rPr lang="en-US" b="1" u="sng" dirty="0"/>
            </a:br>
            <a:endParaRPr lang="en-US" dirty="0"/>
          </a:p>
        </p:txBody>
      </p:sp>
      <p:sp>
        <p:nvSpPr>
          <p:cNvPr id="3" name="Content Placeholder 2"/>
          <p:cNvSpPr>
            <a:spLocks noGrp="1"/>
          </p:cNvSpPr>
          <p:nvPr>
            <p:ph idx="1"/>
          </p:nvPr>
        </p:nvSpPr>
        <p:spPr/>
        <p:txBody>
          <a:bodyPr>
            <a:normAutofit/>
          </a:bodyPr>
          <a:lstStyle/>
          <a:p>
            <a:r>
              <a:rPr lang="en-US" dirty="0"/>
              <a:t>Key data entities identified within the Tourism Management System include:</a:t>
            </a:r>
          </a:p>
          <a:p>
            <a:pPr lvl="0"/>
            <a:r>
              <a:rPr lang="en-US" dirty="0"/>
              <a:t>Tourists: Personal information, preferences, booking history, etc.</a:t>
            </a:r>
          </a:p>
          <a:p>
            <a:pPr lvl="0"/>
            <a:r>
              <a:rPr lang="en-US" dirty="0"/>
              <a:t>Accommodations: Hotel details, room types, availability, pricing, etc.</a:t>
            </a:r>
          </a:p>
          <a:p>
            <a:pPr lvl="0"/>
            <a:r>
              <a:rPr lang="en-US" dirty="0"/>
              <a:t>Destinations: Points of interest, attractions, geographic information, etc.</a:t>
            </a:r>
          </a:p>
          <a:p>
            <a:pPr lvl="0"/>
            <a:r>
              <a:rPr lang="en-US" dirty="0"/>
              <a:t>Bookings: Reservation details, itinerary, payment status, etc.</a:t>
            </a:r>
          </a:p>
          <a:p>
            <a:pPr lvl="0"/>
            <a:r>
              <a:rPr lang="en-US" dirty="0"/>
              <a:t>Transportation: Flight schedules, train routes, car rental options, etc.</a:t>
            </a:r>
          </a:p>
          <a:p>
            <a:pPr lvl="0"/>
            <a:r>
              <a:rPr lang="en-US" dirty="0"/>
              <a:t>Payments: Transaction records, billing information, payment methods, etc.</a:t>
            </a:r>
          </a:p>
          <a:p>
            <a:endParaRPr lang="en-US" dirty="0"/>
          </a:p>
        </p:txBody>
      </p:sp>
    </p:spTree>
    <p:extLst>
      <p:ext uri="{BB962C8B-B14F-4D97-AF65-F5344CB8AC3E}">
        <p14:creationId xmlns:p14="http://schemas.microsoft.com/office/powerpoint/2010/main" val="6587232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And Hardware Specifications:</a:t>
            </a:r>
            <a:r>
              <a:rPr lang="en-US" dirty="0"/>
              <a:t/>
            </a:r>
            <a:br>
              <a:rPr lang="en-US" dirty="0"/>
            </a:br>
            <a:r>
              <a:rPr lang="en-US" b="1" dirty="0"/>
              <a:t> </a:t>
            </a:r>
            <a:r>
              <a:rPr lang="en-US" dirty="0"/>
              <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pPr lvl="0"/>
            <a:r>
              <a:rPr lang="en-US" b="1" dirty="0"/>
              <a:t>Hardware Specification:</a:t>
            </a:r>
          </a:p>
          <a:p>
            <a:r>
              <a:rPr lang="en-US" dirty="0"/>
              <a:t>Processor	:  core i5</a:t>
            </a:r>
          </a:p>
          <a:p>
            <a:r>
              <a:rPr lang="en-US" dirty="0"/>
              <a:t> </a:t>
            </a:r>
          </a:p>
          <a:p>
            <a:r>
              <a:rPr lang="en-US" dirty="0"/>
              <a:t>Ram	:	4.00 GB.</a:t>
            </a:r>
          </a:p>
          <a:p>
            <a:r>
              <a:rPr lang="en-US" dirty="0"/>
              <a:t> </a:t>
            </a:r>
          </a:p>
          <a:p>
            <a:r>
              <a:rPr lang="en-US" dirty="0"/>
              <a:t>SSD	:	256 GB.</a:t>
            </a:r>
          </a:p>
          <a:p>
            <a:r>
              <a:rPr lang="en-US" dirty="0"/>
              <a:t> </a:t>
            </a:r>
          </a:p>
          <a:p>
            <a:r>
              <a:rPr lang="en-US" dirty="0"/>
              <a:t> </a:t>
            </a:r>
          </a:p>
          <a:p>
            <a:r>
              <a:rPr lang="en-US" dirty="0"/>
              <a:t> </a:t>
            </a:r>
          </a:p>
          <a:p>
            <a:pPr lvl="0"/>
            <a:r>
              <a:rPr lang="en-US" b="1" dirty="0"/>
              <a:t>Software Specification:</a:t>
            </a:r>
          </a:p>
          <a:p>
            <a:r>
              <a:rPr lang="en-US" b="1" dirty="0"/>
              <a:t> </a:t>
            </a:r>
            <a:endParaRPr lang="en-US" dirty="0"/>
          </a:p>
          <a:p>
            <a:r>
              <a:rPr lang="en-US" dirty="0"/>
              <a:t>Frontend	 :	Html, CSS, JavaScript, Bootstrap Web Servers	:	</a:t>
            </a:r>
            <a:r>
              <a:rPr lang="en-US" dirty="0" err="1"/>
              <a:t>WampServer</a:t>
            </a:r>
            <a:r>
              <a:rPr lang="en-US" dirty="0"/>
              <a:t>.</a:t>
            </a:r>
          </a:p>
          <a:p>
            <a:r>
              <a:rPr lang="en-US" dirty="0"/>
              <a:t>Backend	:	PHP, MYSQL.</a:t>
            </a:r>
          </a:p>
          <a:p>
            <a:r>
              <a:rPr lang="en-US" dirty="0"/>
              <a:t> </a:t>
            </a:r>
          </a:p>
          <a:p>
            <a:r>
              <a:rPr lang="en-US" dirty="0"/>
              <a:t>Browser</a:t>
            </a:r>
          </a:p>
          <a:p>
            <a:r>
              <a:rPr lang="en-US" dirty="0"/>
              <a:t>Program	:	Google Chrome, Mozilla Firefox.</a:t>
            </a:r>
          </a:p>
          <a:p>
            <a:r>
              <a:rPr lang="en-US" dirty="0"/>
              <a:t/>
            </a:r>
            <a:br>
              <a:rPr lang="en-US" dirty="0"/>
            </a:br>
            <a:endParaRPr lang="en-US" dirty="0"/>
          </a:p>
        </p:txBody>
      </p:sp>
    </p:spTree>
    <p:extLst>
      <p:ext uri="{BB962C8B-B14F-4D97-AF65-F5344CB8AC3E}">
        <p14:creationId xmlns:p14="http://schemas.microsoft.com/office/powerpoint/2010/main" val="2118260097"/>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Feasibility Study</a:t>
            </a:r>
            <a:r>
              <a:rPr lang="en-US" dirty="0"/>
              <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r>
              <a:rPr lang="en-US" dirty="0"/>
              <a:t>A feasibility studies main goal is to access the economics visibility of the proposed business. The study should provides a tough analysis of the business opportunity, including a look at all possible roadblocks that may stands in the way of the co-operatives success. The outcome of the feasibility study will indicate whether or not proceed with the proposed system.</a:t>
            </a:r>
          </a:p>
          <a:p>
            <a:r>
              <a:rPr lang="en-US" dirty="0"/>
              <a:t> </a:t>
            </a:r>
          </a:p>
          <a:p>
            <a:r>
              <a:rPr lang="en-US" dirty="0"/>
              <a:t>If is results of the feasibility study are positives, then we can processed to develop the system software.</a:t>
            </a:r>
          </a:p>
          <a:p>
            <a:r>
              <a:rPr lang="en-US" dirty="0"/>
              <a:t> </a:t>
            </a:r>
          </a:p>
          <a:p>
            <a:r>
              <a:rPr lang="en-US" dirty="0"/>
              <a:t>If the result show that the project should not should a business idea, and them the project should not carried on further.</a:t>
            </a:r>
          </a:p>
          <a:p>
            <a:r>
              <a:rPr lang="en-US" dirty="0"/>
              <a:t>These are the major aspects feasibility study</a:t>
            </a:r>
          </a:p>
          <a:p>
            <a:pPr lvl="0"/>
            <a:r>
              <a:rPr lang="en-US" b="1" dirty="0"/>
              <a:t>Technical Feasibility:</a:t>
            </a:r>
          </a:p>
          <a:p>
            <a:r>
              <a:rPr lang="en-US" b="1" dirty="0"/>
              <a:t> </a:t>
            </a:r>
            <a:endParaRPr lang="en-US" dirty="0"/>
          </a:p>
          <a:p>
            <a:r>
              <a:rPr lang="en-US" b="1" dirty="0"/>
              <a:t> </a:t>
            </a:r>
            <a:endParaRPr lang="en-US" dirty="0"/>
          </a:p>
          <a:p>
            <a:r>
              <a:rPr lang="en-US" dirty="0"/>
              <a:t>This area concerns with both the initial purchase and installation cost as well as the operational costs</a:t>
            </a:r>
          </a:p>
          <a:p>
            <a:r>
              <a:rPr lang="en-US" dirty="0"/>
              <a:t>of running the system. Our proposed system will technically</a:t>
            </a:r>
          </a:p>
          <a:p>
            <a:r>
              <a:rPr lang="en-US" dirty="0"/>
              <a:t>feasible because any additional hardware or software requirement will not be needed for it.</a:t>
            </a:r>
          </a:p>
          <a:p>
            <a:pPr lvl="0"/>
            <a:r>
              <a:rPr lang="en-US" b="1" dirty="0"/>
              <a:t>Economical Feasibility:</a:t>
            </a:r>
          </a:p>
          <a:p>
            <a:r>
              <a:rPr lang="en-US" dirty="0"/>
              <a:t>The system will be economically feasible because if the following reasons. We are going to use browser. After detailed system will be made available freely and whatever the cost incurred, it will be very less to benefits.</a:t>
            </a:r>
          </a:p>
          <a:p>
            <a:r>
              <a:rPr lang="en-US" dirty="0"/>
              <a:t> </a:t>
            </a:r>
          </a:p>
          <a:p>
            <a:pPr lvl="0"/>
            <a:r>
              <a:rPr lang="en-US" b="1" dirty="0"/>
              <a:t>Operational Feasibility:</a:t>
            </a:r>
          </a:p>
          <a:p>
            <a:r>
              <a:rPr lang="en-US" dirty="0"/>
              <a:t>The proposed system after implementation will satisfy the required goals besides providing many other facilities. The system will be easy the understand. Automatic validation of input will enhance to operational feasibility further more.</a:t>
            </a:r>
          </a:p>
          <a:p>
            <a:r>
              <a:rPr lang="en-US" dirty="0"/>
              <a:t>Our output screens are familiar with their existing data processing environment from the beginning	system	operations	will	be	made	easy	for	them.</a:t>
            </a:r>
          </a:p>
        </p:txBody>
      </p:sp>
    </p:spTree>
    <p:extLst>
      <p:ext uri="{BB962C8B-B14F-4D97-AF65-F5344CB8AC3E}">
        <p14:creationId xmlns:p14="http://schemas.microsoft.com/office/powerpoint/2010/main" val="2844230630"/>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Normalization</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1"/>
            <a:r>
              <a:rPr lang="en-US" b="1" dirty="0"/>
              <a:t>Need for Normalization:-</a:t>
            </a:r>
          </a:p>
          <a:p>
            <a:r>
              <a:rPr lang="en-US" dirty="0"/>
              <a:t>Normalization reduces the redundancies of the records. So we can handle the database more efficiently by using relationships between them. By using the normalization we get accurate and consistent results</a:t>
            </a:r>
            <a:r>
              <a:rPr lang="en-US" b="1" i="1" dirty="0"/>
              <a:t>.</a:t>
            </a:r>
            <a:endParaRPr lang="en-US" dirty="0"/>
          </a:p>
          <a:p>
            <a:r>
              <a:rPr lang="en-US" b="1" i="1" dirty="0"/>
              <a:t> </a:t>
            </a:r>
            <a:endParaRPr lang="en-US" dirty="0"/>
          </a:p>
          <a:p>
            <a:r>
              <a:rPr lang="en-US" b="1" i="1" dirty="0"/>
              <a:t> </a:t>
            </a:r>
            <a:endParaRPr lang="en-US" dirty="0"/>
          </a:p>
          <a:p>
            <a:pPr lvl="2"/>
            <a:r>
              <a:rPr lang="en-US" b="1" dirty="0"/>
              <a:t>1NF </a:t>
            </a:r>
            <a:r>
              <a:rPr lang="en-US" b="1" i="1" dirty="0"/>
              <a:t>:- </a:t>
            </a:r>
            <a:r>
              <a:rPr lang="en-US" dirty="0"/>
              <a:t>It Remove duplicate records from tables.</a:t>
            </a:r>
            <a:endParaRPr lang="en-US" sz="1800" dirty="0"/>
          </a:p>
          <a:p>
            <a:pPr lvl="2"/>
            <a:r>
              <a:rPr lang="en-US" b="1" dirty="0"/>
              <a:t>2NF </a:t>
            </a:r>
            <a:r>
              <a:rPr lang="en-US" b="1" i="1" dirty="0"/>
              <a:t>:- </a:t>
            </a:r>
            <a:r>
              <a:rPr lang="en-US" dirty="0"/>
              <a:t>It check that every non-key field is strictly depends on key field.</a:t>
            </a:r>
            <a:endParaRPr lang="en-US" sz="1800" dirty="0"/>
          </a:p>
          <a:p>
            <a:pPr lvl="2"/>
            <a:r>
              <a:rPr lang="en-US" b="1" dirty="0"/>
              <a:t>3NF </a:t>
            </a:r>
            <a:r>
              <a:rPr lang="en-US" b="1" i="1" dirty="0"/>
              <a:t>:- </a:t>
            </a:r>
            <a:r>
              <a:rPr lang="en-US" dirty="0"/>
              <a:t>In this normal form transitive dependencies in the field are removed.</a:t>
            </a:r>
            <a:endParaRPr lang="en-US" sz="1800" dirty="0"/>
          </a:p>
          <a:p>
            <a:r>
              <a:rPr lang="en-US" dirty="0"/>
              <a:t/>
            </a:r>
            <a:br>
              <a:rPr lang="en-US" dirty="0"/>
            </a:br>
            <a:endParaRPr lang="en-US" dirty="0"/>
          </a:p>
        </p:txBody>
      </p:sp>
    </p:spTree>
    <p:extLst>
      <p:ext uri="{BB962C8B-B14F-4D97-AF65-F5344CB8AC3E}">
        <p14:creationId xmlns:p14="http://schemas.microsoft.com/office/powerpoint/2010/main" val="993533218"/>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UML Diagram</a:t>
            </a:r>
            <a:r>
              <a:rPr lang="en-US" dirty="0"/>
              <a:t/>
            </a:r>
            <a:br>
              <a:rPr lang="en-US" dirty="0"/>
            </a:br>
            <a:endParaRPr lang="en-US" dirty="0"/>
          </a:p>
        </p:txBody>
      </p:sp>
      <p:sp>
        <p:nvSpPr>
          <p:cNvPr id="3" name="Content Placeholder 2"/>
          <p:cNvSpPr>
            <a:spLocks noGrp="1"/>
          </p:cNvSpPr>
          <p:nvPr>
            <p:ph idx="1"/>
          </p:nvPr>
        </p:nvSpPr>
        <p:spPr>
          <a:xfrm>
            <a:off x="1078583" y="2844800"/>
            <a:ext cx="10061065" cy="3491268"/>
          </a:xfrm>
        </p:spPr>
        <p:txBody>
          <a:bodyPr/>
          <a:lstStyle/>
          <a:p>
            <a:endParaRPr lang="en-US" dirty="0"/>
          </a:p>
        </p:txBody>
      </p:sp>
      <p:sp>
        <p:nvSpPr>
          <p:cNvPr id="4" name="Rectangle 2"/>
          <p:cNvSpPr>
            <a:spLocks noChangeArrowheads="1"/>
          </p:cNvSpPr>
          <p:nvPr/>
        </p:nvSpPr>
        <p:spPr bwMode="auto">
          <a:xfrm>
            <a:off x="240383" y="242292"/>
            <a:ext cx="11665002" cy="1920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580" tIns="1206120" rIns="358662" bIns="17774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E-R Diagram :</a:t>
            </a:r>
            <a:endParaRPr kumimoji="0" lang="en-US" sz="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pic>
        <p:nvPicPr>
          <p:cNvPr id="4097" name="Image 2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522" y="1690688"/>
            <a:ext cx="5695802" cy="518149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240383" y="1068347"/>
            <a:ext cx="1166500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
            </a:r>
            <a:b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br>
            <a:endParaRPr kumimoji="0" lang="en-US" sz="10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
            </a:r>
            <a:br>
              <a:rPr kumimoji="0" lang="en-US" sz="10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1617155"/>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Diagram:</a:t>
            </a:r>
            <a:r>
              <a:rPr lang="en-US" dirty="0"/>
              <a:t/>
            </a:r>
            <a:br>
              <a:rPr lang="en-US" dirty="0"/>
            </a:br>
            <a:endParaRPr lang="en-US" dirty="0"/>
          </a:p>
        </p:txBody>
      </p:sp>
      <p:pic>
        <p:nvPicPr>
          <p:cNvPr id="4" name="Image 21"/>
          <p:cNvPicPr>
            <a:picLocks noGrp="1"/>
          </p:cNvPicPr>
          <p:nvPr>
            <p:ph idx="1"/>
          </p:nvPr>
        </p:nvPicPr>
        <p:blipFill>
          <a:blip r:embed="rId2" cstate="print"/>
          <a:stretch>
            <a:fillRect/>
          </a:stretch>
        </p:blipFill>
        <p:spPr>
          <a:xfrm>
            <a:off x="838200" y="1340992"/>
            <a:ext cx="9942576" cy="5068951"/>
          </a:xfrm>
          <a:prstGeom prst="rect">
            <a:avLst/>
          </a:prstGeom>
        </p:spPr>
      </p:pic>
    </p:spTree>
    <p:extLst>
      <p:ext uri="{BB962C8B-B14F-4D97-AF65-F5344CB8AC3E}">
        <p14:creationId xmlns:p14="http://schemas.microsoft.com/office/powerpoint/2010/main" val="1087676687"/>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 diagram:</a:t>
            </a:r>
            <a:r>
              <a:rPr lang="en-US" dirty="0"/>
              <a:t/>
            </a:r>
            <a:br>
              <a:rPr lang="en-US" dirty="0"/>
            </a:br>
            <a:endParaRPr lang="en-US" dirty="0"/>
          </a:p>
        </p:txBody>
      </p:sp>
      <p:pic>
        <p:nvPicPr>
          <p:cNvPr id="4" name="Image 22"/>
          <p:cNvPicPr>
            <a:picLocks noGrp="1"/>
          </p:cNvPicPr>
          <p:nvPr>
            <p:ph idx="1"/>
          </p:nvPr>
        </p:nvPicPr>
        <p:blipFill>
          <a:blip r:embed="rId2" cstate="print"/>
          <a:stretch>
            <a:fillRect/>
          </a:stretch>
        </p:blipFill>
        <p:spPr>
          <a:xfrm>
            <a:off x="838200" y="1188720"/>
            <a:ext cx="10207751" cy="5312664"/>
          </a:xfrm>
          <a:prstGeom prst="rect">
            <a:avLst/>
          </a:prstGeom>
        </p:spPr>
      </p:pic>
    </p:spTree>
    <p:extLst>
      <p:ext uri="{BB962C8B-B14F-4D97-AF65-F5344CB8AC3E}">
        <p14:creationId xmlns:p14="http://schemas.microsoft.com/office/powerpoint/2010/main" val="237430840"/>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case diagram:</a:t>
            </a:r>
            <a:r>
              <a:rPr lang="en-US" dirty="0"/>
              <a:t/>
            </a:r>
            <a:br>
              <a:rPr lang="en-US" dirty="0"/>
            </a:br>
            <a:endParaRPr lang="en-US" dirty="0"/>
          </a:p>
        </p:txBody>
      </p:sp>
      <p:pic>
        <p:nvPicPr>
          <p:cNvPr id="4" name="Image 23"/>
          <p:cNvPicPr>
            <a:picLocks noGrp="1"/>
          </p:cNvPicPr>
          <p:nvPr>
            <p:ph idx="1"/>
          </p:nvPr>
        </p:nvPicPr>
        <p:blipFill>
          <a:blip r:embed="rId2" cstate="print"/>
          <a:stretch>
            <a:fillRect/>
          </a:stretch>
        </p:blipFill>
        <p:spPr>
          <a:xfrm>
            <a:off x="649224" y="1024128"/>
            <a:ext cx="9784080" cy="5641848"/>
          </a:xfrm>
          <a:prstGeom prst="rect">
            <a:avLst/>
          </a:prstGeom>
        </p:spPr>
      </p:pic>
    </p:spTree>
    <p:extLst>
      <p:ext uri="{BB962C8B-B14F-4D97-AF65-F5344CB8AC3E}">
        <p14:creationId xmlns:p14="http://schemas.microsoft.com/office/powerpoint/2010/main" val="1114212773"/>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Sequence diagram:</a:t>
            </a:r>
            <a:endParaRPr lang="en-US" dirty="0"/>
          </a:p>
        </p:txBody>
      </p:sp>
      <p:pic>
        <p:nvPicPr>
          <p:cNvPr id="4" name="Image 24"/>
          <p:cNvPicPr>
            <a:picLocks noGrp="1"/>
          </p:cNvPicPr>
          <p:nvPr>
            <p:ph idx="1"/>
          </p:nvPr>
        </p:nvPicPr>
        <p:blipFill>
          <a:blip r:embed="rId2" cstate="print"/>
          <a:stretch>
            <a:fillRect/>
          </a:stretch>
        </p:blipFill>
        <p:spPr>
          <a:xfrm>
            <a:off x="1179576" y="1380744"/>
            <a:ext cx="9509760" cy="5385816"/>
          </a:xfrm>
          <a:prstGeom prst="rect">
            <a:avLst/>
          </a:prstGeom>
        </p:spPr>
      </p:pic>
    </p:spTree>
    <p:extLst>
      <p:ext uri="{BB962C8B-B14F-4D97-AF65-F5344CB8AC3E}">
        <p14:creationId xmlns:p14="http://schemas.microsoft.com/office/powerpoint/2010/main" val="3219940644"/>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 Chart Diagram</a:t>
            </a:r>
            <a:r>
              <a:rPr lang="en-US" dirty="0"/>
              <a:t/>
            </a:r>
            <a:br>
              <a:rPr lang="en-US" dirty="0"/>
            </a:br>
            <a:endParaRPr lang="en-US" dirty="0"/>
          </a:p>
        </p:txBody>
      </p:sp>
      <p:pic>
        <p:nvPicPr>
          <p:cNvPr id="4" name="Image 25"/>
          <p:cNvPicPr>
            <a:picLocks noGrp="1"/>
          </p:cNvPicPr>
          <p:nvPr>
            <p:ph idx="1"/>
          </p:nvPr>
        </p:nvPicPr>
        <p:blipFill>
          <a:blip r:embed="rId2" cstate="print"/>
          <a:stretch>
            <a:fillRect/>
          </a:stretch>
        </p:blipFill>
        <p:spPr>
          <a:xfrm>
            <a:off x="2011680" y="1289305"/>
            <a:ext cx="7741463" cy="4192942"/>
          </a:xfrm>
          <a:prstGeom prst="rect">
            <a:avLst/>
          </a:prstGeom>
        </p:spPr>
      </p:pic>
    </p:spTree>
    <p:extLst>
      <p:ext uri="{BB962C8B-B14F-4D97-AF65-F5344CB8AC3E}">
        <p14:creationId xmlns:p14="http://schemas.microsoft.com/office/powerpoint/2010/main" val="1290819103"/>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Activity diagram:</a:t>
            </a:r>
            <a:br>
              <a:rPr lang="en-US" b="1" dirty="0"/>
            </a:br>
            <a:endParaRPr lang="en-US" dirty="0"/>
          </a:p>
        </p:txBody>
      </p:sp>
      <p:pic>
        <p:nvPicPr>
          <p:cNvPr id="4" name="Image 26"/>
          <p:cNvPicPr>
            <a:picLocks noGrp="1"/>
          </p:cNvPicPr>
          <p:nvPr>
            <p:ph idx="1"/>
          </p:nvPr>
        </p:nvPicPr>
        <p:blipFill>
          <a:blip r:embed="rId2" cstate="print"/>
          <a:stretch>
            <a:fillRect/>
          </a:stretch>
        </p:blipFill>
        <p:spPr>
          <a:xfrm>
            <a:off x="2880360" y="1033272"/>
            <a:ext cx="5486400" cy="5632704"/>
          </a:xfrm>
          <a:prstGeom prst="rect">
            <a:avLst/>
          </a:prstGeom>
        </p:spPr>
      </p:pic>
    </p:spTree>
    <p:extLst>
      <p:ext uri="{BB962C8B-B14F-4D97-AF65-F5344CB8AC3E}">
        <p14:creationId xmlns:p14="http://schemas.microsoft.com/office/powerpoint/2010/main" val="4160312449"/>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 Diagram</a:t>
            </a:r>
            <a:endParaRPr lang="en-US" dirty="0"/>
          </a:p>
        </p:txBody>
      </p:sp>
      <p:pic>
        <p:nvPicPr>
          <p:cNvPr id="4" name="Image 27"/>
          <p:cNvPicPr>
            <a:picLocks noGrp="1"/>
          </p:cNvPicPr>
          <p:nvPr>
            <p:ph idx="1"/>
          </p:nvPr>
        </p:nvPicPr>
        <p:blipFill>
          <a:blip r:embed="rId2" cstate="print"/>
          <a:stretch>
            <a:fillRect/>
          </a:stretch>
        </p:blipFill>
        <p:spPr>
          <a:xfrm>
            <a:off x="2002537" y="1417320"/>
            <a:ext cx="6669654" cy="5212080"/>
          </a:xfrm>
          <a:prstGeom prst="rect">
            <a:avLst/>
          </a:prstGeom>
        </p:spPr>
      </p:pic>
    </p:spTree>
    <p:extLst>
      <p:ext uri="{BB962C8B-B14F-4D97-AF65-F5344CB8AC3E}">
        <p14:creationId xmlns:p14="http://schemas.microsoft.com/office/powerpoint/2010/main" val="1706316532"/>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Deployment diagram:</a:t>
            </a:r>
            <a:r>
              <a:rPr lang="en-US" dirty="0"/>
              <a:t/>
            </a:r>
            <a:br>
              <a:rPr lang="en-US" dirty="0"/>
            </a:br>
            <a:endParaRPr lang="en-US" dirty="0"/>
          </a:p>
        </p:txBody>
      </p:sp>
      <p:pic>
        <p:nvPicPr>
          <p:cNvPr id="4" name="Image 28"/>
          <p:cNvPicPr>
            <a:picLocks noGrp="1"/>
          </p:cNvPicPr>
          <p:nvPr>
            <p:ph idx="1"/>
          </p:nvPr>
        </p:nvPicPr>
        <p:blipFill>
          <a:blip r:embed="rId2" cstate="print"/>
          <a:stretch>
            <a:fillRect/>
          </a:stretch>
        </p:blipFill>
        <p:spPr>
          <a:xfrm>
            <a:off x="2971800" y="1088136"/>
            <a:ext cx="5535076" cy="5696712"/>
          </a:xfrm>
          <a:prstGeom prst="rect">
            <a:avLst/>
          </a:prstGeom>
        </p:spPr>
      </p:pic>
    </p:spTree>
    <p:extLst>
      <p:ext uri="{BB962C8B-B14F-4D97-AF65-F5344CB8AC3E}">
        <p14:creationId xmlns:p14="http://schemas.microsoft.com/office/powerpoint/2010/main" val="4284253204"/>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Dictionary</a:t>
            </a:r>
            <a:r>
              <a:rPr lang="en-US" dirty="0"/>
              <a:t/>
            </a:r>
            <a:br>
              <a:rPr lang="en-US" dirty="0"/>
            </a:b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542581377"/>
              </p:ext>
            </p:extLst>
          </p:nvPr>
        </p:nvGraphicFramePr>
        <p:xfrm>
          <a:off x="1380743" y="1463039"/>
          <a:ext cx="8102621" cy="2185133"/>
        </p:xfrm>
        <a:graphic>
          <a:graphicData uri="http://schemas.openxmlformats.org/drawingml/2006/table">
            <a:tbl>
              <a:tblPr firstRow="1" firstCol="1" lastRow="1" lastCol="1" bandRow="1" bandCol="1">
                <a:tableStyleId>{5C22544A-7EE6-4342-B048-85BDC9FD1C3A}</a:tableStyleId>
              </a:tblPr>
              <a:tblGrid>
                <a:gridCol w="2026291"/>
                <a:gridCol w="2026291"/>
                <a:gridCol w="2026291"/>
                <a:gridCol w="2023748"/>
              </a:tblGrid>
              <a:tr h="361995">
                <a:tc>
                  <a:txBody>
                    <a:bodyPr/>
                    <a:lstStyle/>
                    <a:p>
                      <a:pPr marL="67945" marR="0">
                        <a:lnSpc>
                          <a:spcPts val="1280"/>
                        </a:lnSpc>
                        <a:spcBef>
                          <a:spcPts val="0"/>
                        </a:spcBef>
                        <a:spcAft>
                          <a:spcPts val="0"/>
                        </a:spcAft>
                      </a:pPr>
                      <a:r>
                        <a:rPr lang="en-US" sz="1200" spc="-10" dirty="0">
                          <a:effectLst/>
                        </a:rPr>
                        <a:t>Fields</a:t>
                      </a:r>
                      <a:endParaRPr lang="en-US" sz="11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7945" marR="0">
                        <a:lnSpc>
                          <a:spcPts val="1280"/>
                        </a:lnSpc>
                        <a:spcBef>
                          <a:spcPts val="0"/>
                        </a:spcBef>
                        <a:spcAft>
                          <a:spcPts val="0"/>
                        </a:spcAft>
                      </a:pPr>
                      <a:r>
                        <a:rPr lang="en-US" sz="1200">
                          <a:effectLst/>
                        </a:rPr>
                        <a:t>Data</a:t>
                      </a:r>
                      <a:r>
                        <a:rPr lang="en-US" sz="1200" spc="-10">
                          <a:effectLst/>
                        </a:rPr>
                        <a:t> </a:t>
                      </a:r>
                      <a:r>
                        <a:rPr lang="en-US" sz="1200" spc="-20">
                          <a:effectLst/>
                        </a:rPr>
                        <a:t>Type</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280"/>
                        </a:lnSpc>
                        <a:spcBef>
                          <a:spcPts val="0"/>
                        </a:spcBef>
                        <a:spcAft>
                          <a:spcPts val="0"/>
                        </a:spcAft>
                      </a:pPr>
                      <a:r>
                        <a:rPr lang="en-US" sz="1200" spc="-10">
                          <a:effectLst/>
                        </a:rPr>
                        <a:t>Description</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280"/>
                        </a:lnSpc>
                        <a:spcBef>
                          <a:spcPts val="0"/>
                        </a:spcBef>
                        <a:spcAft>
                          <a:spcPts val="0"/>
                        </a:spcAft>
                      </a:pPr>
                      <a:r>
                        <a:rPr lang="en-US" sz="1200" spc="-10">
                          <a:effectLst/>
                        </a:rPr>
                        <a:t>Constraints</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729255">
                <a:tc>
                  <a:txBody>
                    <a:bodyPr/>
                    <a:lstStyle/>
                    <a:p>
                      <a:pPr marL="67945" marR="0">
                        <a:lnSpc>
                          <a:spcPts val="1365"/>
                        </a:lnSpc>
                        <a:spcBef>
                          <a:spcPts val="0"/>
                        </a:spcBef>
                        <a:spcAft>
                          <a:spcPts val="0"/>
                        </a:spcAft>
                      </a:pPr>
                      <a:r>
                        <a:rPr lang="en-US" sz="1200" spc="-10">
                          <a:effectLst/>
                        </a:rPr>
                        <a:t>User_id</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7945" marR="0">
                        <a:lnSpc>
                          <a:spcPts val="1365"/>
                        </a:lnSpc>
                        <a:spcBef>
                          <a:spcPts val="0"/>
                        </a:spcBef>
                        <a:spcAft>
                          <a:spcPts val="0"/>
                        </a:spcAft>
                      </a:pPr>
                      <a:r>
                        <a:rPr lang="en-US" sz="1200" spc="-25">
                          <a:effectLst/>
                        </a:rPr>
                        <a:t>Int</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365"/>
                        </a:lnSpc>
                        <a:spcBef>
                          <a:spcPts val="0"/>
                        </a:spcBef>
                        <a:spcAft>
                          <a:spcPts val="0"/>
                        </a:spcAft>
                      </a:pPr>
                      <a:r>
                        <a:rPr lang="en-US" sz="1200">
                          <a:effectLst/>
                        </a:rPr>
                        <a:t>Id</a:t>
                      </a:r>
                      <a:r>
                        <a:rPr lang="en-US" sz="1200" spc="-15">
                          <a:effectLst/>
                        </a:rPr>
                        <a:t> </a:t>
                      </a:r>
                      <a:r>
                        <a:rPr lang="en-US" sz="1200">
                          <a:effectLst/>
                        </a:rPr>
                        <a:t>of</a:t>
                      </a:r>
                      <a:r>
                        <a:rPr lang="en-US" sz="1200" spc="-5">
                          <a:effectLst/>
                        </a:rPr>
                        <a:t> </a:t>
                      </a:r>
                      <a:r>
                        <a:rPr lang="en-US" sz="1200">
                          <a:effectLst/>
                        </a:rPr>
                        <a:t>the</a:t>
                      </a:r>
                      <a:r>
                        <a:rPr lang="en-US" sz="1200" spc="-10">
                          <a:effectLst/>
                        </a:rPr>
                        <a:t> </a:t>
                      </a:r>
                      <a:r>
                        <a:rPr lang="en-US" sz="1200" spc="-20">
                          <a:effectLst/>
                        </a:rPr>
                        <a:t>user</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365"/>
                        </a:lnSpc>
                        <a:spcBef>
                          <a:spcPts val="0"/>
                        </a:spcBef>
                        <a:spcAft>
                          <a:spcPts val="0"/>
                        </a:spcAft>
                      </a:pPr>
                      <a:r>
                        <a:rPr lang="en-US" sz="1200">
                          <a:effectLst/>
                        </a:rPr>
                        <a:t>Primary</a:t>
                      </a:r>
                      <a:r>
                        <a:rPr lang="en-US" sz="1200" spc="-25">
                          <a:effectLst/>
                        </a:rPr>
                        <a:t> key</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364628">
                <a:tc>
                  <a:txBody>
                    <a:bodyPr/>
                    <a:lstStyle/>
                    <a:p>
                      <a:pPr marL="67945" marR="0">
                        <a:lnSpc>
                          <a:spcPts val="1290"/>
                        </a:lnSpc>
                        <a:spcBef>
                          <a:spcPts val="0"/>
                        </a:spcBef>
                        <a:spcAft>
                          <a:spcPts val="0"/>
                        </a:spcAft>
                      </a:pPr>
                      <a:r>
                        <a:rPr lang="en-US" sz="1200" spc="-10">
                          <a:effectLst/>
                        </a:rPr>
                        <a:t>Email_id</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7945" marR="0">
                        <a:lnSpc>
                          <a:spcPts val="1290"/>
                        </a:lnSpc>
                        <a:spcBef>
                          <a:spcPts val="0"/>
                        </a:spcBef>
                        <a:spcAft>
                          <a:spcPts val="0"/>
                        </a:spcAft>
                      </a:pPr>
                      <a:r>
                        <a:rPr lang="en-US" sz="1200" spc="-10">
                          <a:effectLst/>
                        </a:rPr>
                        <a:t>Varchar</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290"/>
                        </a:lnSpc>
                        <a:spcBef>
                          <a:spcPts val="0"/>
                        </a:spcBef>
                        <a:spcAft>
                          <a:spcPts val="0"/>
                        </a:spcAft>
                      </a:pPr>
                      <a:r>
                        <a:rPr lang="en-US" sz="1200">
                          <a:effectLst/>
                        </a:rPr>
                        <a:t>Email</a:t>
                      </a:r>
                      <a:r>
                        <a:rPr lang="en-US" sz="1200" spc="-15">
                          <a:effectLst/>
                        </a:rPr>
                        <a:t> </a:t>
                      </a:r>
                      <a:r>
                        <a:rPr lang="en-US" sz="1200">
                          <a:effectLst/>
                        </a:rPr>
                        <a:t>of the</a:t>
                      </a:r>
                      <a:r>
                        <a:rPr lang="en-US" sz="1200" spc="-10">
                          <a:effectLst/>
                        </a:rPr>
                        <a:t> </a:t>
                      </a:r>
                      <a:r>
                        <a:rPr lang="en-US" sz="1200" spc="-20">
                          <a:effectLst/>
                        </a:rPr>
                        <a:t>user</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290"/>
                        </a:lnSpc>
                        <a:spcBef>
                          <a:spcPts val="0"/>
                        </a:spcBef>
                        <a:spcAft>
                          <a:spcPts val="0"/>
                        </a:spcAft>
                      </a:pPr>
                      <a:r>
                        <a:rPr lang="en-US" sz="1200">
                          <a:effectLst/>
                        </a:rPr>
                        <a:t>Not </a:t>
                      </a:r>
                      <a:r>
                        <a:rPr lang="en-US" sz="1200" spc="-20">
                          <a:effectLst/>
                        </a:rPr>
                        <a:t>null</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r h="729255">
                <a:tc>
                  <a:txBody>
                    <a:bodyPr/>
                    <a:lstStyle/>
                    <a:p>
                      <a:pPr marL="67945" marR="0">
                        <a:lnSpc>
                          <a:spcPts val="1350"/>
                        </a:lnSpc>
                        <a:spcBef>
                          <a:spcPts val="0"/>
                        </a:spcBef>
                        <a:spcAft>
                          <a:spcPts val="0"/>
                        </a:spcAft>
                      </a:pPr>
                      <a:r>
                        <a:rPr lang="en-US" sz="1200" spc="-10">
                          <a:effectLst/>
                        </a:rPr>
                        <a:t>Password</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7945" marR="0">
                        <a:lnSpc>
                          <a:spcPts val="1350"/>
                        </a:lnSpc>
                        <a:spcBef>
                          <a:spcPts val="0"/>
                        </a:spcBef>
                        <a:spcAft>
                          <a:spcPts val="0"/>
                        </a:spcAft>
                      </a:pPr>
                      <a:r>
                        <a:rPr lang="en-US" sz="1200" spc="-10">
                          <a:effectLst/>
                        </a:rPr>
                        <a:t>Varchar</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345"/>
                        </a:lnSpc>
                        <a:spcBef>
                          <a:spcPts val="0"/>
                        </a:spcBef>
                        <a:spcAft>
                          <a:spcPts val="0"/>
                        </a:spcAft>
                      </a:pPr>
                      <a:r>
                        <a:rPr lang="en-US" sz="1200">
                          <a:effectLst/>
                        </a:rPr>
                        <a:t>Password</a:t>
                      </a:r>
                      <a:r>
                        <a:rPr lang="en-US" sz="1200" spc="-5">
                          <a:effectLst/>
                        </a:rPr>
                        <a:t> </a:t>
                      </a:r>
                      <a:r>
                        <a:rPr lang="en-US" sz="1200">
                          <a:effectLst/>
                        </a:rPr>
                        <a:t>for</a:t>
                      </a:r>
                      <a:r>
                        <a:rPr lang="en-US" sz="1200" spc="-15">
                          <a:effectLst/>
                        </a:rPr>
                        <a:t> </a:t>
                      </a:r>
                      <a:r>
                        <a:rPr lang="en-US" sz="1200">
                          <a:effectLst/>
                        </a:rPr>
                        <a:t>the </a:t>
                      </a:r>
                      <a:r>
                        <a:rPr lang="en-US" sz="1200" spc="-20">
                          <a:effectLst/>
                        </a:rPr>
                        <a:t>user</a:t>
                      </a:r>
                      <a:endParaRPr lang="en-US" sz="1100">
                        <a:effectLst/>
                      </a:endParaRPr>
                    </a:p>
                    <a:p>
                      <a:pPr marL="66675" marR="0">
                        <a:lnSpc>
                          <a:spcPts val="1325"/>
                        </a:lnSpc>
                        <a:spcBef>
                          <a:spcPts val="0"/>
                        </a:spcBef>
                        <a:spcAft>
                          <a:spcPts val="0"/>
                        </a:spcAft>
                      </a:pPr>
                      <a:r>
                        <a:rPr lang="en-US" sz="1200" spc="-10">
                          <a:effectLst/>
                        </a:rPr>
                        <a:t>login</a:t>
                      </a:r>
                      <a:endParaRPr lang="en-US" sz="110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c>
                  <a:txBody>
                    <a:bodyPr/>
                    <a:lstStyle/>
                    <a:p>
                      <a:pPr marL="66675" marR="0">
                        <a:lnSpc>
                          <a:spcPts val="1350"/>
                        </a:lnSpc>
                        <a:spcBef>
                          <a:spcPts val="0"/>
                        </a:spcBef>
                        <a:spcAft>
                          <a:spcPts val="0"/>
                        </a:spcAft>
                      </a:pPr>
                      <a:r>
                        <a:rPr lang="en-US" sz="1200" dirty="0">
                          <a:effectLst/>
                        </a:rPr>
                        <a:t>Not </a:t>
                      </a:r>
                      <a:r>
                        <a:rPr lang="en-US" sz="1200" spc="-20" dirty="0">
                          <a:effectLst/>
                        </a:rPr>
                        <a:t>null</a:t>
                      </a:r>
                      <a:endParaRPr lang="en-US" sz="11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0" marR="0" marT="0" marB="0"/>
                </a:tc>
              </a:tr>
            </a:tbl>
          </a:graphicData>
        </a:graphic>
      </p:graphicFrame>
    </p:spTree>
    <p:extLst>
      <p:ext uri="{BB962C8B-B14F-4D97-AF65-F5344CB8AC3E}">
        <p14:creationId xmlns:p14="http://schemas.microsoft.com/office/powerpoint/2010/main" val="3828489752"/>
      </p:ext>
    </p:extLst>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u="sng" dirty="0" err="1" smtClean="0"/>
              <a:t>Collabration</a:t>
            </a:r>
            <a:r>
              <a:rPr lang="en-US" b="1" u="sng" dirty="0" smtClean="0"/>
              <a:t> </a:t>
            </a:r>
            <a:r>
              <a:rPr lang="en-US" b="1" u="sng" dirty="0"/>
              <a:t>Diagram</a:t>
            </a:r>
            <a:r>
              <a:rPr lang="en-US" dirty="0"/>
              <a:t/>
            </a:r>
            <a:br>
              <a:rPr lang="en-US" dirty="0"/>
            </a:br>
            <a:endParaRPr lang="en-US" dirty="0"/>
          </a:p>
        </p:txBody>
      </p:sp>
      <p:pic>
        <p:nvPicPr>
          <p:cNvPr id="8" name="Image 54"/>
          <p:cNvPicPr>
            <a:picLocks noGrp="1"/>
          </p:cNvPicPr>
          <p:nvPr>
            <p:ph idx="1"/>
          </p:nvPr>
        </p:nvPicPr>
        <p:blipFill>
          <a:blip r:embed="rId2" cstate="print"/>
          <a:stretch>
            <a:fillRect/>
          </a:stretch>
        </p:blipFill>
        <p:spPr>
          <a:xfrm>
            <a:off x="1993392" y="1325880"/>
            <a:ext cx="7048743" cy="4869371"/>
          </a:xfrm>
          <a:prstGeom prst="rect">
            <a:avLst/>
          </a:prstGeom>
        </p:spPr>
      </p:pic>
    </p:spTree>
    <p:extLst>
      <p:ext uri="{BB962C8B-B14F-4D97-AF65-F5344CB8AC3E}">
        <p14:creationId xmlns:p14="http://schemas.microsoft.com/office/powerpoint/2010/main" val="2786455606"/>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Conclusion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b="1" dirty="0"/>
              <a:t>This mini project has met its Objectives to demonstrate the working concept Of Tourism Management System. The development of </a:t>
            </a:r>
            <a:r>
              <a:rPr lang="en-US" b="1" dirty="0" err="1"/>
              <a:t>thisproject</a:t>
            </a:r>
            <a:r>
              <a:rPr lang="en-US" b="1" dirty="0"/>
              <a:t> was very helpful in developing our programming skills.</a:t>
            </a:r>
          </a:p>
          <a:p>
            <a:r>
              <a:rPr lang="en-US" b="1" dirty="0"/>
              <a:t> </a:t>
            </a:r>
            <a:endParaRPr lang="en-US" dirty="0"/>
          </a:p>
          <a:p>
            <a:r>
              <a:rPr lang="en-US" dirty="0"/>
              <a:t>The project helped us to understand HTML and CSS and Bootstrap to greater depth. We found designing and developing this PROJECT interesting and a good learning experience. It helped us to learn about design Of web page</a:t>
            </a:r>
          </a:p>
          <a:p>
            <a:endParaRPr lang="en-US" dirty="0"/>
          </a:p>
        </p:txBody>
      </p:sp>
    </p:spTree>
    <p:extLst>
      <p:ext uri="{BB962C8B-B14F-4D97-AF65-F5344CB8AC3E}">
        <p14:creationId xmlns:p14="http://schemas.microsoft.com/office/powerpoint/2010/main" val="4164094312"/>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Bibliography</a:t>
            </a:r>
            <a:r>
              <a:rPr lang="en-US" b="1" i="1" u="sng" dirty="0"/>
              <a:t>:-</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u="heavy" dirty="0"/>
              <a:t>The following Books and websites were used as reference </a:t>
            </a:r>
            <a:r>
              <a:rPr lang="en-US" b="1" u="heavy" dirty="0" err="1"/>
              <a:t>forthe</a:t>
            </a:r>
            <a:r>
              <a:rPr lang="en-US" b="1" u="heavy" dirty="0"/>
              <a:t> Project and preparing </a:t>
            </a:r>
            <a:r>
              <a:rPr lang="en-US" b="1" dirty="0"/>
              <a:t> </a:t>
            </a:r>
            <a:r>
              <a:rPr lang="en-US" b="1" u="heavy" dirty="0"/>
              <a:t>this Project Report:</a:t>
            </a:r>
            <a:endParaRPr lang="en-US" b="1" dirty="0"/>
          </a:p>
          <a:p>
            <a:r>
              <a:rPr lang="en-US" b="1" dirty="0"/>
              <a:t> </a:t>
            </a:r>
            <a:endParaRPr lang="en-US" dirty="0"/>
          </a:p>
          <a:p>
            <a:r>
              <a:rPr lang="en-US" b="1" dirty="0"/>
              <a:t> </a:t>
            </a:r>
            <a:endParaRPr lang="en-US" dirty="0"/>
          </a:p>
          <a:p>
            <a:pPr lvl="0"/>
            <a:r>
              <a:rPr lang="en-US" u="sng" dirty="0">
                <a:hlinkClick r:id="rId2"/>
              </a:rPr>
              <a:t>www.w3school.com- This is a idea that exist a class of renders who response</a:t>
            </a:r>
            <a:r>
              <a:rPr lang="en-US" u="sng" dirty="0"/>
              <a:t> Better to learn new technologies at our own place. It provides tutorials for HTML, CSS and PHP which help in building websites.</a:t>
            </a:r>
          </a:p>
          <a:p>
            <a:r>
              <a:rPr lang="en-US" dirty="0"/>
              <a:t> </a:t>
            </a:r>
          </a:p>
          <a:p>
            <a:pPr lvl="0"/>
            <a:r>
              <a:rPr lang="en-US" u="sng" dirty="0">
                <a:hlinkClick r:id="rId3"/>
              </a:rPr>
              <a:t>www.geeksforgeeks.com-</a:t>
            </a:r>
            <a:r>
              <a:rPr lang="en-US" u="sng" dirty="0"/>
              <a:t> This is an educational website for learning web Technologies online. Content includes tutorial and references relating to HTML ,CSS,PHP ,Bootstrap etc.</a:t>
            </a:r>
          </a:p>
          <a:p>
            <a:pPr marL="0" indent="0">
              <a:buNone/>
            </a:pPr>
            <a:endParaRPr lang="en-US" dirty="0"/>
          </a:p>
        </p:txBody>
      </p:sp>
    </p:spTree>
    <p:extLst>
      <p:ext uri="{BB962C8B-B14F-4D97-AF65-F5344CB8AC3E}">
        <p14:creationId xmlns:p14="http://schemas.microsoft.com/office/powerpoint/2010/main" val="2416038593"/>
      </p:ext>
    </p:extLst>
  </p:cSld>
  <p:clrMapOvr>
    <a:masterClrMapping/>
  </p:clrMapOvr>
  <p:transition spd="slow">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16</TotalTime>
  <Words>690</Words>
  <Application>Microsoft Office PowerPoint</Application>
  <PresentationFormat>Widescreen</PresentationFormat>
  <Paragraphs>164</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Century Gothic</vt:lpstr>
      <vt:lpstr>Mangal</vt:lpstr>
      <vt:lpstr>Times New Roman</vt:lpstr>
      <vt:lpstr>Wingdings 3</vt:lpstr>
      <vt:lpstr>Ion Boardroom</vt:lpstr>
      <vt:lpstr>A Project Report On “TOURISM MANAGEMENT SYSTEM” </vt:lpstr>
      <vt:lpstr>CERTIFICATE </vt:lpstr>
      <vt:lpstr>INDEX </vt:lpstr>
      <vt:lpstr>ACKNOWLEDGEMENT </vt:lpstr>
      <vt:lpstr>INTRODUCTION TO SYSTEM</vt:lpstr>
      <vt:lpstr>SCOPE OF THE SYSTEM </vt:lpstr>
      <vt:lpstr>EXISITNG SYSTEM </vt:lpstr>
      <vt:lpstr>FACT FINDING TECHNIQUE </vt:lpstr>
      <vt:lpstr>INDENTIFICATION OF DATA </vt:lpstr>
      <vt:lpstr>Software And Hardware Specifications:   </vt:lpstr>
      <vt:lpstr>Feasibility Study </vt:lpstr>
      <vt:lpstr>Normalization </vt:lpstr>
      <vt:lpstr>UML Diagram </vt:lpstr>
      <vt:lpstr>Class Diagram: </vt:lpstr>
      <vt:lpstr>Object diagram: </vt:lpstr>
      <vt:lpstr>Use case diagram: </vt:lpstr>
      <vt:lpstr>Sequence diagram:</vt:lpstr>
      <vt:lpstr>State Chart Diagram </vt:lpstr>
      <vt:lpstr>Activity diagram: </vt:lpstr>
      <vt:lpstr>Component Diagram</vt:lpstr>
      <vt:lpstr>Deployment diagram: </vt:lpstr>
      <vt:lpstr>Data Dictionary </vt:lpstr>
      <vt:lpstr>Collabration Diagram </vt:lpstr>
      <vt:lpstr>Conclusion </vt:lpstr>
      <vt:lpstr>Bibliography:-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Project Report On “TOURISM MANAGEMENT SYSTEM”</dc:title>
  <dc:creator>Microsoft account</dc:creator>
  <cp:lastModifiedBy>Microsoft account</cp:lastModifiedBy>
  <cp:revision>2</cp:revision>
  <dcterms:created xsi:type="dcterms:W3CDTF">2025-11-25T07:29:02Z</dcterms:created>
  <dcterms:modified xsi:type="dcterms:W3CDTF">2025-11-25T07:45:48Z</dcterms:modified>
</cp:coreProperties>
</file>